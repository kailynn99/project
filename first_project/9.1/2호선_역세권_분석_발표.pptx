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역</c:v>
                </c:pt>
              </c:strCache>
            </c:strRef>
          </c:tx>
          <c:spPr>
            <a:solidFill>
              <a:srgbClr val="00A84D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00A84D"/>
              </a:solidFill>
              <a:ln w="9525" cap="flat">
                <a:solidFill>
                  <a:srgbClr val="00A84D"/>
                </a:solidFill>
                <a:prstDash val="solid"/>
                <a:round/>
              </a:ln>
              <a:effectLst/>
            </c:spPr>
          </c:marker>
          <c:xVal>
            <c:numRef>
              <c:f>Sheet1!$A$2:$A$33</c:f>
              <c:numCache>
                <c:formatCode>General</c:formatCode>
                <c:ptCount val="32"/>
                <c:pt idx="0">
                  <c:v>55.45</c:v>
                </c:pt>
                <c:pt idx="1">
                  <c:v>27.45</c:v>
                </c:pt>
                <c:pt idx="2">
                  <c:v>22.68</c:v>
                </c:pt>
                <c:pt idx="3">
                  <c:v>38.96</c:v>
                </c:pt>
                <c:pt idx="4">
                  <c:v>18.32</c:v>
                </c:pt>
                <c:pt idx="5">
                  <c:v>13.79</c:v>
                </c:pt>
                <c:pt idx="6">
                  <c:v>17.38</c:v>
                </c:pt>
                <c:pt idx="7">
                  <c:v>16.19</c:v>
                </c:pt>
                <c:pt idx="8">
                  <c:v>11.88</c:v>
                </c:pt>
                <c:pt idx="9">
                  <c:v>16.73</c:v>
                </c:pt>
                <c:pt idx="10">
                  <c:v>31.42</c:v>
                </c:pt>
                <c:pt idx="11">
                  <c:v>37.91</c:v>
                </c:pt>
                <c:pt idx="12">
                  <c:v>9.99</c:v>
                </c:pt>
                <c:pt idx="13">
                  <c:v>37.3</c:v>
                </c:pt>
                <c:pt idx="14">
                  <c:v>17.65</c:v>
                </c:pt>
                <c:pt idx="15">
                  <c:v>10.86</c:v>
                </c:pt>
                <c:pt idx="16">
                  <c:v>17.38</c:v>
                </c:pt>
                <c:pt idx="17">
                  <c:v>34.86</c:v>
                </c:pt>
                <c:pt idx="18">
                  <c:v>38.71</c:v>
                </c:pt>
                <c:pt idx="19">
                  <c:v>2.76</c:v>
                </c:pt>
                <c:pt idx="20">
                  <c:v>7.5</c:v>
                </c:pt>
                <c:pt idx="21">
                  <c:v>4.83</c:v>
                </c:pt>
                <c:pt idx="22">
                  <c:v>15.79</c:v>
                </c:pt>
                <c:pt idx="23">
                  <c:v>10.9</c:v>
                </c:pt>
                <c:pt idx="24">
                  <c:v>2.13</c:v>
                </c:pt>
                <c:pt idx="25">
                  <c:v>1.81</c:v>
                </c:pt>
                <c:pt idx="26">
                  <c:v>12.5</c:v>
                </c:pt>
                <c:pt idx="27">
                  <c:v>57.38</c:v>
                </c:pt>
                <c:pt idx="28">
                  <c:v>9.98</c:v>
                </c:pt>
                <c:pt idx="29">
                  <c:v>7.14</c:v>
                </c:pt>
                <c:pt idx="30">
                  <c:v>8.36</c:v>
                </c:pt>
                <c:pt idx="31">
                  <c:v>24.15</c:v>
                </c:pt>
              </c:numCache>
            </c:numRef>
          </c:xVal>
          <c:yVal>
            <c:numRef>
              <c:f>Sheet1!$B$2:$B$33</c:f>
              <c:numCache>
                <c:formatCode>General</c:formatCode>
                <c:ptCount val="32"/>
                <c:pt idx="0">
                  <c:v>22.12</c:v>
                </c:pt>
                <c:pt idx="1">
                  <c:v>4.73</c:v>
                </c:pt>
                <c:pt idx="2">
                  <c:v>22.84</c:v>
                </c:pt>
                <c:pt idx="3">
                  <c:v>6.14</c:v>
                </c:pt>
                <c:pt idx="4">
                  <c:v>14.39</c:v>
                </c:pt>
                <c:pt idx="5">
                  <c:v>12.07</c:v>
                </c:pt>
                <c:pt idx="6">
                  <c:v>8.09</c:v>
                </c:pt>
                <c:pt idx="7">
                  <c:v>10.05</c:v>
                </c:pt>
                <c:pt idx="8">
                  <c:v>20.69</c:v>
                </c:pt>
                <c:pt idx="9">
                  <c:v>8.74</c:v>
                </c:pt>
                <c:pt idx="10">
                  <c:v>12.51</c:v>
                </c:pt>
                <c:pt idx="11">
                  <c:v>28.14</c:v>
                </c:pt>
                <c:pt idx="12">
                  <c:v>16.56</c:v>
                </c:pt>
                <c:pt idx="13">
                  <c:v>23.94</c:v>
                </c:pt>
                <c:pt idx="14">
                  <c:v>3.82</c:v>
                </c:pt>
                <c:pt idx="15">
                  <c:v>11.99</c:v>
                </c:pt>
                <c:pt idx="16">
                  <c:v>9.98</c:v>
                </c:pt>
                <c:pt idx="17">
                  <c:v>10.79</c:v>
                </c:pt>
                <c:pt idx="18">
                  <c:v>6.63</c:v>
                </c:pt>
                <c:pt idx="19">
                  <c:v>5.74</c:v>
                </c:pt>
                <c:pt idx="20">
                  <c:v>18.95</c:v>
                </c:pt>
                <c:pt idx="21">
                  <c:v>13.41</c:v>
                </c:pt>
                <c:pt idx="22">
                  <c:v>13.95</c:v>
                </c:pt>
                <c:pt idx="23">
                  <c:v>14.26</c:v>
                </c:pt>
                <c:pt idx="24">
                  <c:v>10.06</c:v>
                </c:pt>
                <c:pt idx="25">
                  <c:v>9.84</c:v>
                </c:pt>
                <c:pt idx="26">
                  <c:v>8.85</c:v>
                </c:pt>
                <c:pt idx="27">
                  <c:v>29.26</c:v>
                </c:pt>
                <c:pt idx="28">
                  <c:v>24.84</c:v>
                </c:pt>
                <c:pt idx="29">
                  <c:v>7.83</c:v>
                </c:pt>
                <c:pt idx="30">
                  <c:v>6.48</c:v>
                </c:pt>
                <c:pt idx="31">
                  <c:v>16.26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60"/>
          <c:min val="0"/>
        </c:scaling>
        <c:delete val="0"/>
        <c:axPos val="b"/>
        <c:majorGridlines>
          <c:spPr>
            <a:ln w="12700" cap="flat">
              <a:solidFill>
                <a:srgbClr val="EDEF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B9082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8B9082"/>
                    </a:solidFill>
                    <a:latin typeface="Arial"/>
                  </a:rPr>
                  <a:t>연간 지하철 이용량 (백만 명)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082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32"/>
          <c:min val="0"/>
        </c:scaling>
        <c:delete val="0"/>
        <c:axPos val="l"/>
        <c:majorGridlines>
          <c:spPr>
            <a:ln w="12700" cap="flat">
              <a:solidFill>
                <a:srgbClr val="EDEF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B9082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8B9082"/>
                    </a:solidFill>
                    <a:latin typeface="Arial"/>
                  </a:rPr>
                  <a:t>아파트 평균 매매가 (억 원)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082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5F52"/>
                </a:solidFill>
                <a:latin typeface="맑은 고딕"/>
              </a:defRPr>
            </a:pPr>
            <a:r>
              <a:rPr sz="1200" b="0" i="0" u="none" strike="noStrike">
                <a:solidFill>
                  <a:srgbClr val="5A5F52"/>
                </a:solidFill>
                <a:latin typeface="맑은 고딕"/>
              </a:rPr>
              <a:t>주택 유형별 상관계수 (2025 매매)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상관계수 r</c:v>
                </c:pt>
              </c:strCache>
            </c:strRef>
          </c:tx>
          <c:spPr>
            <a:solidFill>
              <a:srgbClr val="00A84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140F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4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6B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단독다가구</c:v>
                  </c:pt>
                  <c:pt idx="1">
                    <c:v>아파트</c:v>
                  </c:pt>
                  <c:pt idx="2">
                    <c:v>연립다세대</c:v>
                  </c:pt>
                  <c:pt idx="3">
                    <c:v>오피스텔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0.697</c:v>
                </c:pt>
                <c:pt idx="1">
                  <c:v>0.397</c:v>
                </c:pt>
                <c:pt idx="2">
                  <c:v>-0.014</c:v>
                </c:pt>
                <c:pt idx="3">
                  <c:v>-0.134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2140F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F52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-0.3"/>
        </c:scaling>
        <c:delete val="0"/>
        <c:axPos val="l"/>
        <c:majorGridlines>
          <c:spPr>
            <a:ln w="12700" cap="flat">
              <a:solidFill>
                <a:srgbClr val="EDEF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082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상관계수 r</c:v>
                </c:pt>
              </c:strCache>
            </c:strRef>
          </c:tx>
          <c:spPr>
            <a:solidFill>
              <a:srgbClr val="00A84D"/>
            </a:solidFill>
            <a:ln w="38100" cap="flat">
              <a:solidFill>
                <a:srgbClr val="00A84D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140F"/>
                    </a:solidFill>
                    <a:latin typeface="맑은 고딕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0A84D"/>
              </a:solidFill>
              <a:ln w="9525" cap="flat">
                <a:solidFill>
                  <a:srgbClr val="00A8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0.248</c:v>
                </c:pt>
                <c:pt idx="1">
                  <c:v>0.34</c:v>
                </c:pt>
                <c:pt idx="2">
                  <c:v>0.393</c:v>
                </c:pt>
                <c:pt idx="3">
                  <c:v>0.397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2140F"/>
                  </a:solidFill>
                  <a:latin typeface="맑은 고딕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유의성 임계값 (5%)</c:v>
                </c:pt>
              </c:strCache>
            </c:strRef>
          </c:tx>
          <c:spPr>
            <a:solidFill>
              <a:srgbClr val="A8AC9E"/>
            </a:solidFill>
            <a:ln w="19050" cap="flat">
              <a:solidFill>
                <a:srgbClr val="A8AC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A8AC9E"/>
              </a:solidFill>
              <a:ln w="9525" cap="flat">
                <a:solidFill>
                  <a:srgbClr val="A8AC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0.346</c:v>
                </c:pt>
                <c:pt idx="1">
                  <c:v>0.346</c:v>
                </c:pt>
                <c:pt idx="2">
                  <c:v>0.351</c:v>
                </c:pt>
                <c:pt idx="3">
                  <c:v>0.351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F52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12700" cap="flat">
              <a:solidFill>
                <a:srgbClr val="EDEF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082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5F52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팀 나까무라입니다. 저희는 "역세권이면 집값이 비싸다"는 통념을 서울 2호선 33개 역 데이터로 실제 검증해봤습니다. 부동산 실거래 80만 건과 지하철 승하차 데이터를 결합했습니다.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발표는 네 부분으로 나눠서 진행하겠습니다.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통념은 있지만 검증은 드뭅니다. 실제로 이용량 3위인 구로디지털단지의 아파트 평균가는 잠실의 5분의 1 수준입니다. 이 어긋남이 분석의 출발점이었습니다.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데이터는 두 갈래입니다. 국토교통부 실거래가 80만 건, 그리고 서울 열린데이터광장의 지하철 일별 승하차 5만 5천 건. 이 둘을 연도와 역명 기준으로 결합했습니다.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처리는 다섯 단계입니다. 역세권은 좌표 반경이 아니라 2호선이 지나는 구·동 기준으로 매칭했고, 결합 시 매칭 실패는 0건이었습니다.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이용량은 연간 승하차 합계, 가격은 역세권 평균 거래금액입니다. 판정은 피어슨 상관계수와 임계값 비교로 했습니다. 다만 전용면적이 없어 평균가에 면적 구성 차이가 섞여 있다는 점은 미리 말씀드립니다.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왼쪽이 이용량 순위, 오른쪽이 가격 순위입니다. 주황색으로 표시된 역들이 두 순위가 크게 어긋나는 역입니다. 구로디지털단지는 이용량 3위지만 가격은 29위입니다.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상관계수는 0.397, 임계값 0.351을 넘어 통계적으로는 유의합니다. 다만 결정계수로 보면 가격 변동의 16%만 설명됩니다. 관계는 있지만 약하다는 것이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유형을 나누면 이야기가 달라집니다. 단독다가구는 0.697로 강한 관계를 보이는 반면, 오피스텔은 음수입니다. 토지 가치가 반영되는 유형일수록 역 접근성이 가격에 직접 붙는다고 해석했습니다.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연도별로 보면 2022년 0.248에서 2025년 0.397까지 꾸준히 올라갑니다. 2024년부터 임계값을 넘습니다. 팬데믹 이후 통행량이 회복되면서 관계가 다시 드러난 것으로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지표를 표준화해 네 유형으로 나눴습니다. 가장 눈여겨본 건 오른쪽 아래, 교통허브인데 가격은 평균 이하인 다섯 개 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조용한데 비싼 역, 오른쪽은 붐비는데 싼 역입니다. 잠실나루가 격차 1위인데, 이용량은 25위지만 가격은 3위입니다. 한강 조망과 대단지 아파트의 영향으로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4년간의 변화도 봤습니다. 이용량은 12.8% 늘었지만 가격은 43.8% 올랐고, 두 변화율의 상관은 오히려 음수였습니다. 성수는 이용량이 51% 늘었는데 가격은 20% 떨어졌습니다.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정리하면 세 가지입니다. 관계는 있지만 약하다, 주택 유형에 따라 갈린다, 그리고 설명되지 않는 역이 더 많다.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한계도 분명합니다. 특히 전용면적이 빠진 점이 가장 큽니다. 다음에는 제곱미터당 단가로 다시 계산하고, 좌표 기반 반경 500미터로 역세권을 재정의해볼 계획입니다.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감사합니다. 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SEOUL METRO LINE 2  ·  2022–2025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이용량은</a:t>
            </a:r>
            <a:endParaRPr lang="en-US" sz="4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역세권 집값을 설명하는가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B9C2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2호선 33개 역의 승하차 데이터와 부동산 실거래 802,751건을 결합해</a:t>
            </a:r>
            <a:endParaRPr lang="en-US" sz="14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B9C2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접근성과 주거 가격의 관계를 검증했다.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4926330"/>
            <a:ext cx="10911535" cy="45720"/>
          </a:xfrm>
          <a:prstGeom prst="rect">
            <a:avLst/>
          </a:prstGeom>
          <a:solidFill>
            <a:srgbClr val="2E4735"/>
          </a:solidFill>
          <a:ln/>
        </p:spPr>
      </p:sp>
      <p:sp>
        <p:nvSpPr>
          <p:cNvPr id="6" name="Shape 4"/>
          <p:cNvSpPr/>
          <p:nvPr/>
        </p:nvSpPr>
        <p:spPr>
          <a:xfrm>
            <a:off x="582930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915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4901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5886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46872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7857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28843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9828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0814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1799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92785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33770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74756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15741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56727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97712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8698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9683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669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61654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2640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43625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84610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25596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66581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07567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48552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89538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30523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71509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12494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153480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494465" y="48920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" y="5623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나까무라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5943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김경혜 · 김주영 · 박경필 · 전정재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7863840" y="5943600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E9A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11301984" y="6428232"/>
            <a:ext cx="82296" cy="82296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11430000" y="63459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A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순서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419274" cy="2651760"/>
          </a:xfrm>
          <a:prstGeom prst="roundRect">
            <a:avLst>
              <a:gd name="adj" fmla="val 1890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468880"/>
            <a:ext cx="566928" cy="566928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310128"/>
            <a:ext cx="16511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675888"/>
            <a:ext cx="16877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왜 확인하려 했는가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0834" y="2057400"/>
            <a:ext cx="2419274" cy="2651760"/>
          </a:xfrm>
          <a:prstGeom prst="roundRect">
            <a:avLst>
              <a:gd name="adj" fmla="val 1890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54882" y="2468880"/>
            <a:ext cx="566928" cy="566928"/>
          </a:xfrm>
          <a:prstGeom prst="ellipse">
            <a:avLst/>
          </a:prstGeom>
          <a:solidFill>
            <a:srgbClr val="2D6BB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54882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854882" y="3310128"/>
            <a:ext cx="16511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데이터와 처리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854882" y="3675888"/>
            <a:ext cx="16877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개의 공공데이터를 하나로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1588" y="2057400"/>
            <a:ext cx="2419274" cy="2651760"/>
          </a:xfrm>
          <a:prstGeom prst="roundRect">
            <a:avLst>
              <a:gd name="adj" fmla="val 1890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85636" y="246888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85636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85636" y="3310128"/>
            <a:ext cx="16511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결과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685636" y="3675888"/>
            <a:ext cx="16877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상관·유형·변화 세 갈래로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32341" y="2057400"/>
            <a:ext cx="2419274" cy="2651760"/>
          </a:xfrm>
          <a:prstGeom prst="roundRect">
            <a:avLst>
              <a:gd name="adj" fmla="val 1890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16389" y="2468880"/>
            <a:ext cx="566928" cy="566928"/>
          </a:xfrm>
          <a:prstGeom prst="ellipse">
            <a:avLst/>
          </a:prstGeom>
          <a:solidFill>
            <a:srgbClr val="A8AC9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16389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516389" y="3310128"/>
            <a:ext cx="16511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결론과 과제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516389" y="3675888"/>
            <a:ext cx="16877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남았는가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1389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대상 · 2호선 33개 역  |  분석 기간 · 2022~2025년  |  기본 조건 · 아파트 매매 기준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977890"/>
            <a:ext cx="10911535" cy="45720"/>
          </a:xfrm>
          <a:prstGeom prst="rect">
            <a:avLst/>
          </a:prstGeom>
          <a:solidFill>
            <a:srgbClr val="CBD9C6"/>
          </a:solidFill>
          <a:ln/>
        </p:spPr>
      </p:sp>
      <p:sp>
        <p:nvSpPr>
          <p:cNvPr id="26" name="Shape 24"/>
          <p:cNvSpPr/>
          <p:nvPr/>
        </p:nvSpPr>
        <p:spPr>
          <a:xfrm>
            <a:off x="582930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915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64901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05886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46872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7857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28843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69828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10814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1799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92785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33770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74756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15741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56727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97712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8698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79683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20669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61654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02640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43625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84610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25596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766581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07567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448552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789538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130523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471509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812494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153480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94465" y="5943600"/>
            <a:ext cx="114300" cy="114300"/>
          </a:xfrm>
          <a:prstGeom prst="ellipse">
            <a:avLst/>
          </a:prstGeom>
          <a:solidFill>
            <a:srgbClr val="FBFBF7"/>
          </a:solidFill>
          <a:ln w="15875">
            <a:solidFill>
              <a:srgbClr val="CBD9C6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1301984" y="6428232"/>
            <a:ext cx="82296" cy="82296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11430000" y="63459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역세권이면 비싸다, 정말 그런가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52728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"교통이 좋으면 집값이 오른다"는 말은 흔하지만, 얼마나 그런지를 숫자로 확인한 자료는 의외로 드물다.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393338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20848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87168"/>
            <a:ext cx="27532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이용량이 많은 역은 실제로 비싼가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072384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승하차 인원과 평균 거래가의 관계를 직접 확인한다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9178" y="1874520"/>
            <a:ext cx="3393338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19218" y="20848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19218" y="2487168"/>
            <a:ext cx="27532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관계가 있다면 얼마나 강한가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19218" y="3072384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상관계수와 통계적 유의성으로 크기를 재본다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8277" y="1874520"/>
            <a:ext cx="3393338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78317" y="20848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78317" y="2487168"/>
            <a:ext cx="27532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 유형·연도별로 다른가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78317" y="3072384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아파트·오피스텔·단독다가구를 나눠 비교한다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10911535" cy="1691640"/>
          </a:xfrm>
          <a:prstGeom prst="roundRect">
            <a:avLst>
              <a:gd name="adj" fmla="val 2703"/>
            </a:avLst>
          </a:prstGeom>
          <a:solidFill>
            <a:srgbClr val="11291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" y="4224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FD4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출발점이 된 관찰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553712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 3위 구로디지털단지의 아파트값은 1위 잠실의 5분의 1 수준이다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3891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4.8배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6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 29.3억 / 구로디지털단지 6.1억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1301984" y="6428232"/>
            <a:ext cx="82296" cy="82296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1430000" y="63459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개의 공공데이터를 결합했다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52728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국토교통부 실거래가와 서울 지하철 승하차 통계를 연도·역명 기준으로 붙였다.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487854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048256"/>
            <a:ext cx="19392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802,751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51176"/>
            <a:ext cx="19392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부동산 거래 건수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79776"/>
            <a:ext cx="19392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2022~2026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47974" y="1874520"/>
            <a:ext cx="2487854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722294" y="2048256"/>
            <a:ext cx="19392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722294" y="2551176"/>
            <a:ext cx="19392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2호선 대상 역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722294" y="2779776"/>
            <a:ext cx="19392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까치산 제외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55868" y="1874520"/>
            <a:ext cx="2487854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30188" y="2048256"/>
            <a:ext cx="19392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55,209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530188" y="2551176"/>
            <a:ext cx="19392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일별 기록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30188" y="2779776"/>
            <a:ext cx="19392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 × 날짜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63761" y="1874520"/>
            <a:ext cx="2487854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338081" y="2048256"/>
            <a:ext cx="19392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338081" y="2551176"/>
            <a:ext cx="19392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주택·거래 유형 조합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338081" y="2779776"/>
            <a:ext cx="19392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4종 × 3종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383280"/>
            <a:ext cx="5272888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24128" y="3639312"/>
            <a:ext cx="310896" cy="310896"/>
          </a:xfrm>
          <a:prstGeom prst="ellipse">
            <a:avLst/>
          </a:prstGeom>
          <a:solidFill>
            <a:srgbClr val="2D6BB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481328" y="3648456"/>
            <a:ext cx="408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부동산 실거래가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" y="4078224"/>
            <a:ext cx="450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국토교통부 실거래가 공개시스템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" y="4407408"/>
            <a:ext cx="4504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아파트 · 연립다세대 · 단독다가구 · 오피스텔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· 전세 · 월세 전 유형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연도별 원본 25개 파일을 내려받아 통합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78728" y="3383280"/>
            <a:ext cx="5272888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62776" y="3639312"/>
            <a:ext cx="310896" cy="310896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19976" y="3648456"/>
            <a:ext cx="408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승하차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662776" y="4078224"/>
            <a:ext cx="450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열린데이터광장 · 서울교통공사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662776" y="4407408"/>
            <a:ext cx="4504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역별 · 날짜별 승차/하차 인원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2022~2026년 일 단위 원자료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연도 × 역명으로 집계해 결합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11301984" y="6428232"/>
            <a:ext cx="82296" cy="82296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1430000" y="63459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PIPELINE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수집에서 대시보드까지 다섯 단계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52728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역세권 정의부터 결합까지, 재현 가능한 순서로 정리했다.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977481" cy="2880360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212848"/>
            <a:ext cx="457200" cy="457200"/>
          </a:xfrm>
          <a:prstGeom prst="ellipse">
            <a:avLst/>
          </a:prstGeom>
          <a:solidFill>
            <a:srgbClr val="12140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798064"/>
            <a:ext cx="14654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108960"/>
            <a:ext cx="15202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· Pandas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429000"/>
            <a:ext cx="152028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연도별 실거래가 원본과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일별 통계를 모두 확보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635849" y="320040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C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73593" y="1965960"/>
            <a:ext cx="1977481" cy="2880360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29625" y="2212848"/>
            <a:ext cx="457200" cy="457200"/>
          </a:xfrm>
          <a:prstGeom prst="ellipse">
            <a:avLst/>
          </a:prstGeom>
          <a:solidFill>
            <a:srgbClr val="12140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129625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129625" y="2798064"/>
            <a:ext cx="14654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역세권 필터링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3129625" y="3108960"/>
            <a:ext cx="15202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 · 동 기준 매칭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129625" y="3429000"/>
            <a:ext cx="152028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2호선 통과 행정동을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33개 역명으로 매핑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869363" y="320040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C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07107" y="1965960"/>
            <a:ext cx="1977481" cy="2880360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63139" y="2212848"/>
            <a:ext cx="457200" cy="457200"/>
          </a:xfrm>
          <a:prstGeom prst="ellipse">
            <a:avLst/>
          </a:prstGeom>
          <a:solidFill>
            <a:srgbClr val="1214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363139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63139" y="2798064"/>
            <a:ext cx="14654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정제 · 통합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363139" y="3108960"/>
            <a:ext cx="15202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컬럼 표준화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363139" y="3429000"/>
            <a:ext cx="152028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· 전세 · 월세를 분리하고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계약연월을 연도로 축약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102876" y="320040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C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40620" y="1965960"/>
            <a:ext cx="1977481" cy="2880360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96652" y="2212848"/>
            <a:ext cx="457200" cy="457200"/>
          </a:xfrm>
          <a:prstGeom prst="ellipse">
            <a:avLst/>
          </a:prstGeom>
          <a:solidFill>
            <a:srgbClr val="12140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596652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596652" y="2798064"/>
            <a:ext cx="14654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결합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7596652" y="3108960"/>
            <a:ext cx="15202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LEFT JOIN (m:1)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596652" y="3429000"/>
            <a:ext cx="152028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지하철을 연도 × 역명으로 집계 후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단위에 결합, 매칭 실패 0건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336390" y="320040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C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574134" y="1965960"/>
            <a:ext cx="1977481" cy="2880360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830166" y="2212848"/>
            <a:ext cx="457200" cy="457200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830166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830166" y="2798064"/>
            <a:ext cx="14654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· 시각화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9830166" y="3108960"/>
            <a:ext cx="15202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· 대시보드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830166" y="3429000"/>
            <a:ext cx="152028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 · 유형 · 변화 분석과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대시보드 구현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0080" y="5120640"/>
            <a:ext cx="10911535" cy="658368"/>
          </a:xfrm>
          <a:prstGeom prst="roundRect">
            <a:avLst>
              <a:gd name="adj" fmla="val 6944"/>
            </a:avLst>
          </a:prstGeom>
          <a:solidFill>
            <a:srgbClr val="EFF3E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005840" y="5285232"/>
            <a:ext cx="10180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산출물 · 연도 / 역명 / 주택유형 / 거래유형 / 거래금액 / 보증금 / 임대료 / 총승차 / 총하차 / 총이용량  —  10개 컬럼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11301984" y="6428232"/>
            <a:ext cx="82296" cy="82296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11430000" y="63459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METHOD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어떻게 쟀는가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57784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정의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578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2578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승차 인원 + 하차 인원 합계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3127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역세권 내 평균 거래금액 (단위 만원)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675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조건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3675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아파트 · 매매 · 2025년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4224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 단위 32개 (거래 없는 역 제외)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0" y="1874520"/>
            <a:ext cx="4965192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995160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 방법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252374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피어슨 상관계수로 두 변수의 선형 관계를 재고,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 수에 대응하는 임계값과 비교해 유의성을 판정한다.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95160" y="3246120"/>
            <a:ext cx="1280160" cy="1051560"/>
          </a:xfrm>
          <a:prstGeom prst="roundRect">
            <a:avLst>
              <a:gd name="adj" fmla="val 4348"/>
            </a:avLst>
          </a:prstGeom>
          <a:solidFill>
            <a:srgbClr val="EFF3E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86600" y="34564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피어슨 상관계수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412480" y="3246120"/>
            <a:ext cx="1280160" cy="1051560"/>
          </a:xfrm>
          <a:prstGeom prst="roundRect">
            <a:avLst>
              <a:gd name="adj" fmla="val 4348"/>
            </a:avLst>
          </a:prstGeom>
          <a:solidFill>
            <a:srgbClr val="EFF3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03920" y="34564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0.351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 (n=32)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829800" y="3246120"/>
            <a:ext cx="1280160" cy="1051560"/>
          </a:xfrm>
          <a:prstGeom prst="roundRect">
            <a:avLst>
              <a:gd name="adj" fmla="val 4348"/>
            </a:avLst>
          </a:prstGeom>
          <a:solidFill>
            <a:srgbClr val="EFF3E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21240" y="34564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5%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유의수준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5138928"/>
            <a:ext cx="10911535" cy="713232"/>
          </a:xfrm>
          <a:prstGeom prst="roundRect">
            <a:avLst>
              <a:gd name="adj" fmla="val 6410"/>
            </a:avLst>
          </a:prstGeom>
          <a:solidFill>
            <a:srgbClr val="FCF0E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5840" y="5349240"/>
            <a:ext cx="292608" cy="29260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05840" y="5349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463040" y="5367528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3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전용면적 정보가 원본에 포함되지 않아, 평균 금액에는 역별 면적 구성 차이가 함께 반영되어 있다.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11301984" y="6428232"/>
            <a:ext cx="82296" cy="82296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1430000" y="63459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FINDING 01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 순위와 가격 순위는 겹치지 않는다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52728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아파트 매매 기준. 두 목록의 상위 8개 역이 얼마나 어긋나는지가 분석의 출발점이다.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36118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24128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이용량 TOP 8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39572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승차 + 하차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24128" y="2734056"/>
            <a:ext cx="237744" cy="237744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24128" y="27340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066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2706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57.4백만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2706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1위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24128" y="3063240"/>
            <a:ext cx="237744" cy="237744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24128" y="3063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035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강남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55.4백만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3035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6위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24128" y="3392424"/>
            <a:ext cx="237744" cy="23774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24128" y="3392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364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구로디지털단지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10896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39.0백만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29위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24128" y="3721608"/>
            <a:ext cx="237744" cy="23774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24128" y="3721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36941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신림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108960" y="36941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38.7백만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343400" y="3694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27위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24128" y="4050792"/>
            <a:ext cx="237744" cy="237744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24128" y="4050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371600" y="4023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10896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37.9백만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343400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2위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024128" y="4379976"/>
            <a:ext cx="237744" cy="237744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24128" y="43799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371600" y="43525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성수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3108960" y="43525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37.3백만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343400" y="4352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4위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24128" y="4709160"/>
            <a:ext cx="237744" cy="237744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24128" y="4709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371600" y="4681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신도림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108960" y="4681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34.9백만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4343400" y="4681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18위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1024128" y="5038344"/>
            <a:ext cx="237744" cy="237744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024128" y="5038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371600" y="5010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사당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3108960" y="5010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31.4백만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4343400" y="5010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15위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199632" y="1874520"/>
            <a:ext cx="5349240" cy="36118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65836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아파트 평균 매매가 TOP 8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0" y="239572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실거래 평균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583680" y="2734056"/>
            <a:ext cx="237744" cy="237744"/>
          </a:xfrm>
          <a:prstGeom prst="ellipse">
            <a:avLst/>
          </a:prstGeom>
          <a:solidFill>
            <a:srgbClr val="2D6BB5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583680" y="27340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6931152" y="27066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8668512" y="2706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29.3억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9902952" y="2706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 1위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583680" y="3063240"/>
            <a:ext cx="237744" cy="237744"/>
          </a:xfrm>
          <a:prstGeom prst="ellipse">
            <a:avLst/>
          </a:prstGeom>
          <a:solidFill>
            <a:srgbClr val="2D6BB5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583680" y="3063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6931152" y="3035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8668512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28.1억</a:t>
            </a:r>
            <a:endParaRPr lang="en-US" sz="1250" dirty="0"/>
          </a:p>
        </p:txBody>
      </p:sp>
      <p:sp>
        <p:nvSpPr>
          <p:cNvPr id="60" name="Text 58"/>
          <p:cNvSpPr txBox="1"/>
          <p:nvPr/>
        </p:nvSpPr>
        <p:spPr>
          <a:xfrm>
            <a:off x="9902952" y="3035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 5위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6583680" y="3392424"/>
            <a:ext cx="237744" cy="23774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0" y="3392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6931152" y="3364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잠실나루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8668512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24.8억</a:t>
            </a:r>
            <a:endParaRPr lang="en-US" sz="1250" dirty="0"/>
          </a:p>
        </p:txBody>
      </p:sp>
      <p:sp>
        <p:nvSpPr>
          <p:cNvPr id="65" name="Text 63"/>
          <p:cNvSpPr txBox="1"/>
          <p:nvPr/>
        </p:nvSpPr>
        <p:spPr>
          <a:xfrm>
            <a:off x="9902952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 25위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6583680" y="3721608"/>
            <a:ext cx="237744" cy="237744"/>
          </a:xfrm>
          <a:prstGeom prst="ellipse">
            <a:avLst/>
          </a:prstGeom>
          <a:solidFill>
            <a:srgbClr val="2D6BB5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6583680" y="3721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6931152" y="36941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성수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8668512" y="36941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23.9억</a:t>
            </a:r>
            <a:endParaRPr lang="en-US" sz="1250" dirty="0"/>
          </a:p>
        </p:txBody>
      </p:sp>
      <p:sp>
        <p:nvSpPr>
          <p:cNvPr id="70" name="Text 68"/>
          <p:cNvSpPr txBox="1"/>
          <p:nvPr/>
        </p:nvSpPr>
        <p:spPr>
          <a:xfrm>
            <a:off x="9902952" y="3694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 6위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6583680" y="4050792"/>
            <a:ext cx="237744" cy="237744"/>
          </a:xfrm>
          <a:prstGeom prst="ellipse">
            <a:avLst/>
          </a:prstGeom>
          <a:solidFill>
            <a:srgbClr val="2D6BB5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583680" y="4050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73" name="Text 71"/>
          <p:cNvSpPr txBox="1"/>
          <p:nvPr/>
        </p:nvSpPr>
        <p:spPr>
          <a:xfrm>
            <a:off x="6931152" y="4023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교대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8668512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22.8억</a:t>
            </a:r>
            <a:endParaRPr lang="en-US" sz="1250" dirty="0"/>
          </a:p>
        </p:txBody>
      </p:sp>
      <p:sp>
        <p:nvSpPr>
          <p:cNvPr id="75" name="Text 73"/>
          <p:cNvSpPr txBox="1"/>
          <p:nvPr/>
        </p:nvSpPr>
        <p:spPr>
          <a:xfrm>
            <a:off x="9902952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 11위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6583680" y="4379976"/>
            <a:ext cx="237744" cy="237744"/>
          </a:xfrm>
          <a:prstGeom prst="ellipse">
            <a:avLst/>
          </a:prstGeom>
          <a:solidFill>
            <a:srgbClr val="2D6BB5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6583680" y="43799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6931152" y="43525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강남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8668512" y="43525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22.1억</a:t>
            </a:r>
            <a:endParaRPr lang="en-US" sz="1250" dirty="0"/>
          </a:p>
        </p:txBody>
      </p:sp>
      <p:sp>
        <p:nvSpPr>
          <p:cNvPr id="80" name="Text 78"/>
          <p:cNvSpPr txBox="1"/>
          <p:nvPr/>
        </p:nvSpPr>
        <p:spPr>
          <a:xfrm>
            <a:off x="9902952" y="4352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 2위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6583680" y="4709160"/>
            <a:ext cx="237744" cy="23774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6583680" y="4709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83" name="Text 81"/>
          <p:cNvSpPr txBox="1"/>
          <p:nvPr/>
        </p:nvSpPr>
        <p:spPr>
          <a:xfrm>
            <a:off x="6931152" y="4681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방배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8668512" y="4681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20.7억</a:t>
            </a:r>
            <a:endParaRPr lang="en-US" sz="1250" dirty="0"/>
          </a:p>
        </p:txBody>
      </p:sp>
      <p:sp>
        <p:nvSpPr>
          <p:cNvPr id="85" name="Text 83"/>
          <p:cNvSpPr txBox="1"/>
          <p:nvPr/>
        </p:nvSpPr>
        <p:spPr>
          <a:xfrm>
            <a:off x="9902952" y="4681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 21위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6583680" y="5038344"/>
            <a:ext cx="237744" cy="23774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6583680" y="5038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88" name="Text 86"/>
          <p:cNvSpPr txBox="1"/>
          <p:nvPr/>
        </p:nvSpPr>
        <p:spPr>
          <a:xfrm>
            <a:off x="6931152" y="5010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아현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8668512" y="5010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18.9억</a:t>
            </a:r>
            <a:endParaRPr lang="en-US" sz="1250" dirty="0"/>
          </a:p>
        </p:txBody>
      </p:sp>
      <p:sp>
        <p:nvSpPr>
          <p:cNvPr id="90" name="Text 88"/>
          <p:cNvSpPr txBox="1"/>
          <p:nvPr/>
        </p:nvSpPr>
        <p:spPr>
          <a:xfrm>
            <a:off x="9902952" y="5010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 27위</a:t>
            </a:r>
            <a:endParaRPr lang="en-US" sz="1150" dirty="0"/>
          </a:p>
        </p:txBody>
      </p:sp>
      <p:sp>
        <p:nvSpPr>
          <p:cNvPr id="91" name="Shape 89"/>
          <p:cNvSpPr/>
          <p:nvPr/>
        </p:nvSpPr>
        <p:spPr>
          <a:xfrm>
            <a:off x="640080" y="5669280"/>
            <a:ext cx="10911535" cy="566928"/>
          </a:xfrm>
          <a:prstGeom prst="roundRect">
            <a:avLst>
              <a:gd name="adj" fmla="val 8065"/>
            </a:avLst>
          </a:prstGeom>
          <a:solidFill>
            <a:srgbClr val="11291D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1005840" y="5815584"/>
            <a:ext cx="10180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 3·4·9위인 구로디지털단지 · 신림 · 건대입구는 가격에서 29 · 27 · 31위로 밀린다. 사람이 많이 지나가는 역과 비싼 역은 다른 집합이다.</a:t>
            </a:r>
            <a:endParaRPr lang="en-US" sz="1250" dirty="0"/>
          </a:p>
        </p:txBody>
      </p:sp>
      <p:sp>
        <p:nvSpPr>
          <p:cNvPr id="94" name="Shape 91"/>
          <p:cNvSpPr/>
          <p:nvPr/>
        </p:nvSpPr>
        <p:spPr>
          <a:xfrm>
            <a:off x="11301984" y="6428232"/>
            <a:ext cx="82296" cy="82296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11430000" y="63459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FINDING 02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관계는 있지만, 생각보다 약하다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52728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가로축 연간 이용량, 세로축 아파트 평균 매매가. 점 하나가 역 하나다.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360920" cy="434340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868680" y="2084832"/>
          <a:ext cx="69037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366760" y="1874520"/>
            <a:ext cx="318211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641080" y="199339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0.397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9966960" y="2084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상관계수 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366760" y="2670048"/>
            <a:ext cx="318211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641080" y="27889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0.351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996696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 (5%)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366760" y="3465576"/>
            <a:ext cx="318211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641080" y="358444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9966960" y="3675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 역 수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366760" y="4261104"/>
            <a:ext cx="318211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641080" y="43799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16%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9966960" y="44714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설명되는 가격 변동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366760" y="5093208"/>
            <a:ext cx="3182112" cy="1124712"/>
          </a:xfrm>
          <a:prstGeom prst="roundRect">
            <a:avLst>
              <a:gd name="adj" fmla="val 4065"/>
            </a:avLst>
          </a:prstGeom>
          <a:solidFill>
            <a:srgbClr val="11291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641080" y="528523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통계적으로는 유의하다.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다만 가격 변동의 84%는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 밖에서 설명된다.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01984" y="6428232"/>
            <a:ext cx="82296" cy="82296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11430000" y="63459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FINDING 03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 유형에 따라 결과가 갈린다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52728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매매 기준. 같은 이용량 데이터인데도 유형별 상관계수는 0.70에서 -0.13까지 벌어진다.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0292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2258568"/>
            <a:ext cx="274320" cy="274320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22219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단독다가구 0.697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56946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유일하게 뚜렷한 관계. 토지 가치가 반영되는 유형이라 역 접근성이 그대로 가격에 붙는다.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50292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87552" y="3630168"/>
            <a:ext cx="274320" cy="274320"/>
          </a:xfrm>
          <a:prstGeom prst="ellipse">
            <a:avLst/>
          </a:prstGeom>
          <a:solidFill>
            <a:srgbClr val="2D6BB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35935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아파트 0.397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94106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유의하지만 약하다. 단지 규모·연식·학군 등 역과 무관한 요인이 더 크게 작용한다.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50292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87552" y="5001768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417320" y="49651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연립·오피스텔 0 부근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531266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관계가 사실상 없다. 오피스텔은 오히려 음의 방향으로, 이용량 상위 역에 저가 물량이 몰려 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965960"/>
            <a:ext cx="5513832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graphicFrame>
        <p:nvGraphicFramePr>
          <p:cNvPr id="18" name="Chart 0" descr=""/>
          <p:cNvGraphicFramePr/>
          <p:nvPr/>
        </p:nvGraphicFramePr>
        <p:xfrm>
          <a:off x="6263640" y="2194560"/>
          <a:ext cx="50749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6"/>
          <p:cNvSpPr/>
          <p:nvPr/>
        </p:nvSpPr>
        <p:spPr>
          <a:xfrm>
            <a:off x="11301984" y="6428232"/>
            <a:ext cx="82296" cy="82296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11430000" y="63459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FINDING 04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관계는 해마다 조금씩 강해졌다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52728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아파트 매매 기준 상관계수 추이. 2024년에 임계값을 넘어서며 통계적 유의성을 확보했다.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498080" cy="3931920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868680" y="2057400"/>
          <a:ext cx="7040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03920" y="1874520"/>
            <a:ext cx="3044952" cy="868680"/>
          </a:xfrm>
          <a:prstGeom prst="roundRect">
            <a:avLst>
              <a:gd name="adj" fmla="val 5263"/>
            </a:avLst>
          </a:prstGeom>
          <a:solidFill>
            <a:srgbClr val="F2F3E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7824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601200" y="1965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0.248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359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 미만 · 관계 없음과 구분 불가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503920" y="2880360"/>
            <a:ext cx="3044952" cy="868680"/>
          </a:xfrm>
          <a:prstGeom prst="roundRect">
            <a:avLst>
              <a:gd name="adj" fmla="val 5263"/>
            </a:avLst>
          </a:prstGeom>
          <a:solidFill>
            <a:srgbClr val="F2F3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77824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9601200" y="2971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0.340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778240" y="3364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 바로 아래까지 상승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503920" y="3886200"/>
            <a:ext cx="3044952" cy="868680"/>
          </a:xfrm>
          <a:prstGeom prst="roundRect">
            <a:avLst>
              <a:gd name="adj" fmla="val 5263"/>
            </a:avLst>
          </a:prstGeom>
          <a:solidFill>
            <a:srgbClr val="EFF3E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778240" y="4023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9601200" y="39776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0.393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778240" y="4370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 돌파 · 유의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503920" y="4892040"/>
            <a:ext cx="3044952" cy="868680"/>
          </a:xfrm>
          <a:prstGeom prst="roundRect">
            <a:avLst>
              <a:gd name="adj" fmla="val 5263"/>
            </a:avLst>
          </a:prstGeom>
          <a:solidFill>
            <a:srgbClr val="EFF3E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778240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9601200" y="4983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0.397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778240" y="5376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 · 4년 중 최고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11301984" y="6428232"/>
            <a:ext cx="82296" cy="82296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11430000" y="63459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FINDING 05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이용량과 가격으로 나눈 네 가지 역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52728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지표를 표준화해 평균을 기준선으로 삼았다. 32개 역이 네 유형으로 갈린다.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72888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167128"/>
            <a:ext cx="274320" cy="274320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21305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교통허브 · 고가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41368" y="2148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 역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45059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이용량도 가격도 평균 이상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78892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  ·  강남  ·  삼성  ·  성수  ·  합정  ·  교대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8728" y="1874520"/>
            <a:ext cx="5272888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44488" y="2167128"/>
            <a:ext cx="274320" cy="274320"/>
          </a:xfrm>
          <a:prstGeom prst="ellipse">
            <a:avLst/>
          </a:prstGeom>
          <a:solidFill>
            <a:srgbClr val="2D6BB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55968" y="21305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주거중심 · 고가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180015" y="2148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D6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 역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055968" y="245059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 적게 지나가지만 비싼 역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644488" y="278892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구의  ·  영등포구청  ·  방배  ·  왕십리  ·  상왕십리  ·  잠실나루  ·  아현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5272888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05840" y="4270248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417320" y="42336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교통허브 · 중저가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41368" y="4251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 역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5537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통행량은 많은데 가격은 평균 이하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89204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구로디지털단지  ·  신림  ·  신도림  ·  사당  ·  건대입구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78728" y="3977640"/>
            <a:ext cx="5272888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44488" y="4270248"/>
            <a:ext cx="274320" cy="274320"/>
          </a:xfrm>
          <a:prstGeom prst="ellipse">
            <a:avLst/>
          </a:prstGeom>
          <a:solidFill>
            <a:srgbClr val="A8AC9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055968" y="42336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주거중심 · 중저가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0180015" y="4251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8AC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14개 역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055968" y="45537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이용량과 가격이 모두 평균 이하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644488" y="489204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시청  ·  신대방  ·  대림  ·  봉천  ·  문래  ·  당산  ·  이대  ·  신당  ·  한양대  ·  충정로  ·  양천구청  ·  신설동  ·  용답  ·  용두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11301984" y="6428232"/>
            <a:ext cx="82296" cy="82296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1430000" y="63459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FINDING 06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 대비 가장 비싼 역과 가장 싼 역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52728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표준점수에서 이용량 표준점수를 뺀 값. 양수는 통행량에 비해 비싼 역, 음수는 그 반대다.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2103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통행량 대비 고평가 TOP 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39572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조용하지만 비싼 역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239572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 · 가격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3957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격차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7614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잠실나루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76148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10.0백만 · 24.8억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11880" y="2843784"/>
            <a:ext cx="1095375" cy="146304"/>
          </a:xfrm>
          <a:prstGeom prst="roundRect">
            <a:avLst>
              <a:gd name="adj" fmla="val 18750"/>
            </a:avLst>
          </a:prstGeom>
          <a:solidFill>
            <a:srgbClr val="2D6BB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27614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D6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+2.30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2461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아현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32461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7.5백만 · 18.9억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11880" y="3328416"/>
            <a:ext cx="776288" cy="146304"/>
          </a:xfrm>
          <a:prstGeom prst="roundRect">
            <a:avLst>
              <a:gd name="adj" fmla="val 18750"/>
            </a:avLst>
          </a:prstGeom>
          <a:solidFill>
            <a:srgbClr val="2D6BB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00600" y="32461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D6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+1.63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7307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방배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373075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11.9백만 · 20.7억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11880" y="3813048"/>
            <a:ext cx="752475" cy="146304"/>
          </a:xfrm>
          <a:prstGeom prst="roundRect">
            <a:avLst>
              <a:gd name="adj" fmla="val 18750"/>
            </a:avLst>
          </a:prstGeom>
          <a:solidFill>
            <a:srgbClr val="2D6BB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00600" y="37307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D6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+1.58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2153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교대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194560" y="421538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22.7백만 · 22.8억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11880" y="4297680"/>
            <a:ext cx="547687" cy="146304"/>
          </a:xfrm>
          <a:prstGeom prst="roundRect">
            <a:avLst>
              <a:gd name="adj" fmla="val 18750"/>
            </a:avLst>
          </a:prstGeom>
          <a:solidFill>
            <a:srgbClr val="2D6BB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00600" y="421538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D6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+1.15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4700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상왕십리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2194560" y="470001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10.0백만 · 16.6억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11880" y="4782312"/>
            <a:ext cx="528638" cy="146304"/>
          </a:xfrm>
          <a:prstGeom prst="roundRect">
            <a:avLst>
              <a:gd name="adj" fmla="val 18750"/>
            </a:avLst>
          </a:prstGeom>
          <a:solidFill>
            <a:srgbClr val="2D6BB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00600" y="470001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D6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+1.11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99632" y="1874520"/>
            <a:ext cx="534924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565392" y="2103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통행량 대비 저평가 TOP 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565392" y="239572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붐비지만 싼 역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754112" y="239572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 · 가격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60152" y="23957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격차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565392" y="27614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구로디지털단지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7754112" y="276148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39.0백만 · 6.1억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171432" y="2843784"/>
            <a:ext cx="1123950" cy="146304"/>
          </a:xfrm>
          <a:prstGeom prst="roundRect">
            <a:avLst>
              <a:gd name="adj" fmla="val 18750"/>
            </a:avLst>
          </a:prstGeom>
          <a:solidFill>
            <a:srgbClr val="E4572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360152" y="27614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-2.36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565392" y="32461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신림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7754112" y="32461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38.7백만 · 6.6억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171432" y="3328416"/>
            <a:ext cx="1081088" cy="146304"/>
          </a:xfrm>
          <a:prstGeom prst="roundRect">
            <a:avLst>
              <a:gd name="adj" fmla="val 18750"/>
            </a:avLst>
          </a:prstGeom>
          <a:solidFill>
            <a:srgbClr val="E4572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0360152" y="32461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-2.27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565392" y="37307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건대입구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7754112" y="373075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27.5백만 · 4.7억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171432" y="3813048"/>
            <a:ext cx="842963" cy="146304"/>
          </a:xfrm>
          <a:prstGeom prst="roundRect">
            <a:avLst>
              <a:gd name="adj" fmla="val 18750"/>
            </a:avLst>
          </a:prstGeom>
          <a:solidFill>
            <a:srgbClr val="E4572E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360152" y="37307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-1.77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565392" y="42153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신도림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7754112" y="421538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34.9백만 · 10.8억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171432" y="4297680"/>
            <a:ext cx="671513" cy="146304"/>
          </a:xfrm>
          <a:prstGeom prst="roundRect">
            <a:avLst>
              <a:gd name="adj" fmla="val 18750"/>
            </a:avLst>
          </a:prstGeom>
          <a:solidFill>
            <a:srgbClr val="E4572E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0360152" y="421538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-1.41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565392" y="4700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시청</a:t>
            </a:r>
            <a:endParaRPr lang="en-US" sz="1350" dirty="0"/>
          </a:p>
        </p:txBody>
      </p:sp>
      <p:sp>
        <p:nvSpPr>
          <p:cNvPr id="52" name="Text 50"/>
          <p:cNvSpPr txBox="1"/>
          <p:nvPr/>
        </p:nvSpPr>
        <p:spPr>
          <a:xfrm>
            <a:off x="7754112" y="470001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17.6백만 · 3.8억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171432" y="4782312"/>
            <a:ext cx="585788" cy="146304"/>
          </a:xfrm>
          <a:prstGeom prst="roundRect">
            <a:avLst>
              <a:gd name="adj" fmla="val 18750"/>
            </a:avLst>
          </a:prstGeom>
          <a:solidFill>
            <a:srgbClr val="E4572E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10360152" y="470001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-1.23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40080" y="553212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EFF3EC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1005840" y="5669280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잠실나루 · 방배 · 아현처럼 이용량 하위권인 역이 가격 상위권에 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역세권 프리미엄보다 학군 · 단지 규모 · 재개발 같은 요인이 더 크게 작동한 결과로 본다.</a:t>
            </a:r>
            <a:endParaRPr lang="en-US" sz="1250" dirty="0"/>
          </a:p>
        </p:txBody>
      </p:sp>
      <p:sp>
        <p:nvSpPr>
          <p:cNvPr id="58" name="Shape 55"/>
          <p:cNvSpPr/>
          <p:nvPr/>
        </p:nvSpPr>
        <p:spPr>
          <a:xfrm>
            <a:off x="11301984" y="6428232"/>
            <a:ext cx="82296" cy="82296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11430000" y="63459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FINDING 07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4년간의 변화도 같이 움직이지 않았다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52728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2022년 대비 2025년 변화율. 2026년은 8월까지의 부분 연도라 제외했다.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39333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2084832"/>
            <a:ext cx="2661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+12.8%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688336"/>
            <a:ext cx="2753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지하철 이용량 변화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99178" y="1874520"/>
            <a:ext cx="339333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64938" y="2084832"/>
            <a:ext cx="2661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6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+43.8%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764938" y="2688336"/>
            <a:ext cx="2753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아파트 매매가 변화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8277" y="1874520"/>
            <a:ext cx="3393338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524037" y="2084832"/>
            <a:ext cx="2661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-0.185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524037" y="2688336"/>
            <a:ext cx="2753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변화율의 상관계수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534924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24128" y="3730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이용량은 늘었는데 가격은 빠진 역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4160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성수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 +51.3%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-20.2%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4663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시청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2286000" y="4663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 +24.3%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4663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-6.7%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5166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문래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286000" y="5166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 +17.6%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5166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-8.6%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99632" y="3520440"/>
            <a:ext cx="534924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583680" y="3730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이용량은 그대로인데 가격이 뛴 역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4160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신설동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845552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 +15.0%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674352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2D6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+233.5%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4663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대림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845552" y="4663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 +8.3%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674352" y="4663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2D6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+106.1%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583680" y="5166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교대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7845552" y="5166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 +2.9%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9674352" y="5166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2D6B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+86.3%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60350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변화율끼리는 오히려 약한 음의 관계를 보였다. 4년 사이 가격을 움직인 힘은 통행량 증가가 아니었다.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11301984" y="6428232"/>
            <a:ext cx="82296" cy="82296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11430000" y="63459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문장으로 남은 결론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1371600"/>
          </a:xfrm>
          <a:prstGeom prst="roundRect">
            <a:avLst>
              <a:gd name="adj" fmla="val 3333"/>
            </a:avLst>
          </a:prstGeom>
          <a:solidFill>
            <a:srgbClr val="1D2A20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075688"/>
            <a:ext cx="566928" cy="566928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965960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관계는 있다. 다만 약하다.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37744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9B6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이용량과 아파트값의 상관은 0.397로 통계적으로 유의하지만, 가격 변동의 16%만 설명한다. "역세권이면 비싸다"는 절반만 맞는 말이다.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64408"/>
            <a:ext cx="10911535" cy="1371600"/>
          </a:xfrm>
          <a:prstGeom prst="roundRect">
            <a:avLst>
              <a:gd name="adj" fmla="val 3333"/>
            </a:avLst>
          </a:prstGeom>
          <a:solidFill>
            <a:srgbClr val="1D2A20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3648456"/>
            <a:ext cx="566928" cy="566928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648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3538728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유형을 나누면 이야기가 달라진다.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39502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9B6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단독다가구는 0.697로 뚜렷한 반면 오피스텔은 -0.134다. 토지 가치가 반영되는 유형일수록 역 접근성이 가격에 직접 붙는다.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837176"/>
            <a:ext cx="10911535" cy="1371600"/>
          </a:xfrm>
          <a:prstGeom prst="roundRect">
            <a:avLst>
              <a:gd name="adj" fmla="val 3333"/>
            </a:avLst>
          </a:prstGeom>
          <a:solidFill>
            <a:srgbClr val="1D2A2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" y="5221224"/>
            <a:ext cx="566928" cy="566928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5221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5111496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통행량으로 설명되지 않는 역이 더 많다.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5522976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9B6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32개 역 중 12개가 이용량과 가격의 방향이 어긋난다. 잠실나루 · 방배처럼 조용하고 비싼 역, 구로디지털단지 · 신림처럼 붐비고 싼 역이 함께 있다.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1301984" y="6428232"/>
            <a:ext cx="82296" cy="82296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430000" y="63459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A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LIMITATION &amp; NEXT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한계와 다음 단계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148840"/>
            <a:ext cx="292608" cy="29260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21579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분석의 한계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전용면적 미반영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9260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거래금액에 면적 구성 차이가 섞여 있다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456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역세권 정의의 근사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373075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 반경이 아니라 구 · 동 단위 매칭으로 잡았다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4261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 구간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53542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 · 신대방 · 잠실 세 역은 전 · 월세 거래가 없어 빠졌다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50657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교란 요인 미통제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534009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학군 · 재개발 · 단지 규모를 변수로 넣지 못했다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9632" y="1874520"/>
            <a:ext cx="5349240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E3E5DC"/>
            </a:solidFill>
            <a:prstDash val="solid"/>
          </a:ln>
          <a:effectLst>
            <a:outerShdw sx="100000" sy="100000" kx="0" ky="0" algn="bl" rotWithShape="0" blurRad="114300" dist="12700" dir="5400000">
              <a:srgbClr val="2A2E22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2148840"/>
            <a:ext cx="292608" cy="292608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22592" y="21579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해볼 것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㎡당 단가로 재계산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9260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면적 데이터를 붙이면 평균의 왜곡을 걷어낼 수 있다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456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 기반 반경 500m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73075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역 좌표로 역세권을 다시 정의한다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4261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다중회귀로 확장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53542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이용량 외 변수를 넣어 순수 효과를 분리한다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50657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40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환승역 · 노선 확대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534009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5F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2호선 밖 노선까지 넓혀 일반화 가능성을 본다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1301984" y="6428232"/>
            <a:ext cx="82296" cy="82296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11430000" y="63459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0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00A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6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과정과 전체 지표는 인터랙티브 대시보드에서 연도 · 주택유형 · 거래유형별로 확인할 수 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469130"/>
            <a:ext cx="10911535" cy="45720"/>
          </a:xfrm>
          <a:prstGeom prst="rect">
            <a:avLst/>
          </a:prstGeom>
          <a:solidFill>
            <a:srgbClr val="2E4735"/>
          </a:solidFill>
          <a:ln/>
        </p:spPr>
      </p:sp>
      <p:sp>
        <p:nvSpPr>
          <p:cNvPr id="6" name="Shape 4"/>
          <p:cNvSpPr/>
          <p:nvPr/>
        </p:nvSpPr>
        <p:spPr>
          <a:xfrm>
            <a:off x="582930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915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4901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5886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46872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7857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28843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9828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0814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1799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92785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33770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74756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15741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56727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97712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8698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9683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669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61654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2640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43625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84610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25596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66581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07567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48552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89538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30523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71509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12494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153480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494465" y="4434840"/>
            <a:ext cx="114300" cy="114300"/>
          </a:xfrm>
          <a:prstGeom prst="ellipse">
            <a:avLst/>
          </a:prstGeom>
          <a:solidFill>
            <a:srgbClr val="141A15"/>
          </a:solidFill>
          <a:ln w="15875">
            <a:solidFill>
              <a:srgbClr val="2E473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" y="5212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나까무라  ·  김경혜 · 김주영 · 박경필 · 전정재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55321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846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· 국토교통부 실거래가 공개시스템, 서울 열린데이터광장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949440" y="5532120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8846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· Pandas · MySQL · Power BI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11301984" y="6428232"/>
            <a:ext cx="82296" cy="82296"/>
          </a:xfrm>
          <a:prstGeom prst="ellipse">
            <a:avLst/>
          </a:prstGeom>
          <a:solidFill>
            <a:srgbClr val="00A84D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11430000" y="63459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A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2호선 역세권 교통량·부동산 분석</dc:title>
  <dc:subject>PptxGenJS Presentation</dc:subject>
  <dc:creator>팀 나까무라</dc:creator>
  <cp:lastModifiedBy>팀 나까무라</cp:lastModifiedBy>
  <cp:revision>1</cp:revision>
  <dcterms:created xsi:type="dcterms:W3CDTF">2026-09-01T01:34:27Z</dcterms:created>
  <dcterms:modified xsi:type="dcterms:W3CDTF">2026-09-01T01:34:27Z</dcterms:modified>
</cp:coreProperties>
</file>